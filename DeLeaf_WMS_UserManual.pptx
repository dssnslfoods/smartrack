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0" y="1097280"/>
            <a:ext cx="2103120" cy="1371600"/>
          </a:xfrm>
          <a:prstGeom prst="roundRect">
            <a:avLst/>
          </a:prstGeom>
          <a:solidFill>
            <a:srgbClr val="128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800" b="1">
                <a:solidFill>
                  <a:srgbClr val="FFFFFF"/>
                </a:solidFill>
                <a:latin typeface="Tahoma"/>
              </a:rPr>
              <a:t>WMS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F6E4"/>
                </a:solidFill>
                <a:latin typeface="Tahoma"/>
              </a:rPr>
              <a:t>คู่มือการใช้งานระบบ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Tahoma"/>
              </a:rPr>
              <a:t>De Leaf Warehouse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F6E4"/>
                </a:solidFill>
                <a:latin typeface="Tahoma"/>
              </a:rPr>
              <a:t>RACK Management System — EHOS (Everyday Happy Operating System)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5303520"/>
            <a:ext cx="6675120" cy="1828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FBF1"/>
                </a:solidFill>
                <a:latin typeface="Tahoma"/>
              </a:rPr>
              <a:t>EVERYDAYHAPPY CO., LTD.  |  De Leaf Thanaka  |  เวอร์ชัน 2.0  |  สิงหาคม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ahoma"/>
              </a:rPr>
              <a:t>สารบัญ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0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ภาพรวมระบบและการเริ่มต้นใช้งาน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90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เข้าสู่ระบบ, หน้าแรก, เมนูหลัก, สิทธิ์ผู้ใช้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09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ตั้งค่าข้อมูลหลัก (Master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คลังสินค้า, โซน, ชั้นวาง, สินค้า, ช่องทางขาย, ผู้ใช้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12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แผนผังคลังสินค้า (Visual Map)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96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ดูสถานะตำแหน่ง, จัดเก็บ/ย้ายสินค้าจากแผนผัง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5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ค้นหาสินค้า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ค้นด้วยชื่อ/รหัส/Lot/ตำแหน่ง, ตัวกรองอายุ/จำนวน, ดูรายละเอียด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Case: รับสินค้าเข้าคลัง (GRN)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02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สร้างใบรับเข้า, QC, อ้างอิง PO, หลาย Lot ต่อใบ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21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Case: วางแผนหยิบสินค้า (Pick + FEFO)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คำนวณแผน, เลือก FEFO/FIFO, กรองอายุ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51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24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Case: จ่ายออก + ติดตามการจัดส่ง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5079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Pick → Pack → Ship → Deliver, Tracking, ใบส่งสินค้า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727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Case: โอนย้าย / คืนสินค้า / ตัดเสีย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Transfer, Return In/Out, Scrap + เอกสารผูก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57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30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Case: ตรวจอายุสินค้า + Recall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513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ศูนย์จัดการอายุ, กฎช่องทาง, เรียกคืนราย 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33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Case: นับสต็อก (Cycle Count)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016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เปิดรอบ → สแกนนับ → อนุมัติปรับยอด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63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236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ประวัติ, รายงาน, และสรุป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519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ประวัติการเคลื่อนย้าย, รายงาน, Tips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1234440"/>
            <a:ext cx="4846320" cy="5212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ข้อมูลเข้าถึงระบบ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URL: https://smartrack-333.web.app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ใช้งานผ่าน Browser: Chrome / Safari / Edge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รองรับ PC, Tablet (8-10 นิ้ว), มือถือ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รองรับ Barcode Scanner (USB + Camera)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0F766E"/>
                </a:solidFill>
                <a:latin typeface="Tahoma"/>
              </a:rPr>
              <a:t>สิทธิ์ผู้ใช้งาน 4 ระดับ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ADMIN — จัดการทุกอย่าง + ตั้งค่าระบบ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WAREHOUSE MANAGER — จัดการคลัง + อนุมัติ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OPERATOR — รับเข้า/จ่ายออก/ย้าย/นับ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VIEWER — ดูข้อมูลและค้นหาเท่านั้น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0F766E"/>
                </a:solidFill>
                <a:latin typeface="Tahoma"/>
              </a:rPr>
              <a:t>หลักการสำคัญ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1 ตำแหน่ง = 1 พาเลท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ทุก Lot ต้องมีวันหมดอายุ (สินค้าเครื่องสำอาง)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FEFO — หมดอายุก่อน หยิบก่อน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ลบ Transaction ไม่ได้ — แก้ด้วยเอกสารปรับยอด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ภาพรวมระบบและการเริ่มต้นใช้งาน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เข้าสู่ระบบ  /  หน้าแรก (Dashboard)  /  เมนูหลัก  /  การเลือกคลัง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01  เข้าสู่ระบบ + หน้าแรก (Dashboard)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303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การเข้าสู่ระบบ</a:t>
            </a:r>
          </a:p>
          <a:p>
            <a:pPr algn="l">
              <a:spcBef>
                <a:spcPts val="600"/>
              </a:spcBef>
            </a:pPr>
            <a:endParaRPr sz="18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1. เปิด Browser แล้วไปที่ URL ของระบบ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2. กรอก Username และ Password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3. กดปุ่ม "เข้าสู่ระบบ"</a:t>
            </a:r>
          </a:p>
          <a:p>
            <a:pPr algn="l">
              <a:spcBef>
                <a:spcPts val="600"/>
              </a:spcBef>
            </a:pPr>
            <a:endParaRPr sz="13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1A1A2E"/>
                </a:solidFill>
                <a:latin typeface="Tahoma"/>
              </a:rPr>
              <a:t>หน้าแรก (Dashboard) แสดงข้อมูลสรุป: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% การใช้พื้นที่คลัง — เห็นได้ทันทีว่าคลังเต็มหรือยัง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จำนวนตำแหน่งว่าง — พร้อมจัดเก็บสินค้ากี่ตำแหน่ง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รายการสินค้าทั้งหมดในคลัง — จำนวน SKU + หน่วยรวม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การใช้พื้นที่แต่ละโซน — RM, FG, PK, QR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ประวัติการเคลื่อนย้ายล่าสุด — ใครทำอะไร เมื่อไร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ค้นหาเร็ว — สแกนป้ายตำแหน่งเพื่อดูข้อมูลทันที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97280"/>
            <a:ext cx="55778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0F766E"/>
                </a:solidFill>
                <a:latin typeface="Tahoma"/>
              </a:rPr>
              <a:t>ตัวอย่างหน้า Dashboard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63500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Tahoma"/>
              </a:rPr>
              <a:t>📊 ใช้พื้นที่ไป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Tahoma"/>
              </a:rPr>
              <a:t>72%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82880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61120" y="1828800"/>
            <a:ext cx="63500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Tahoma"/>
              </a:rPr>
              <a:t>📭 ตำแหน่งว่าง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Tahoma"/>
              </a:rPr>
              <a:t>168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6350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21868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Tahoma"/>
              </a:rPr>
              <a:t>📦 สินค้าในคลัง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5661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Tahoma"/>
              </a:rPr>
              <a:t>453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3108960"/>
            <a:ext cx="2377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3108960"/>
            <a:ext cx="63500" cy="109728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321868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Tahoma"/>
              </a:rPr>
              <a:t>🏷️ ชนิดสินค้า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56616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544E"/>
                </a:solidFill>
                <a:latin typeface="Tahoma"/>
              </a:rPr>
              <a:t>28 SKU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480560"/>
            <a:ext cx="5029200" cy="1737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16A34A"/>
                </a:solidFill>
                <a:latin typeface="Tahoma"/>
              </a:rPr>
              <a:t>เมนูหลัก (แถบซ้าย)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งานคลัง: รับเข้า / หยิบสินค้า / จ่ายออก / โอน-คืน-ตัดเสีย / นับสต็อก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คลังสินค้า: แผนผัง / ประวัติ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ผู้บริหาร: อายุสินค้า &amp; Recall / รายงาน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ตั้งค่า: ผังคลัง / ข้อมูลหลัก (Admin)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ด้านบน: ดรอปดาวน์เลือกคลัง + ช่องค้นหาด่วน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ตั้งค่าข้อมูลหลัก (Master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คลังสินค้า  /  โซน  /  ชั้นวาง (RACK)  /  สินค้า (SKU)  /  ช่องทางขาย  /  ผู้ใช้งาน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02  ข้อมูลหลัก — แต่ละแท็บ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566160" cy="2651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🏢 คลังสินค้า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สร้าง/แก้ไขข้อมูลคลัง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รหัสคลัง, ชื่อ, ที่อยู่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กำหนดขนาดผังพื้น (คอลัมน์ x แถว)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ดูจำนวนโซน/RACK/ตำแหน่ง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เปิด/ปิดใช้งาน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51560"/>
            <a:ext cx="3566160" cy="2651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📍 โซน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จัดโซนแบ่งพื้นที่คลัง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RM = วัตถุดิบ, FG = สำเร็จรูป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PK = บรรจุภัณฑ์, QR = กักกัน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กำหนดสีประจำโซน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เลือกว่าอยู่คลังไหน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51560"/>
            <a:ext cx="3566160" cy="2651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🗄️ ชั้นวาง (RACK)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สร้าง RACK → สร้างตำแหน่งอัตโนมัติ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ระบุจำนวนชั้น (Level) เช่น 4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ระบุจำนวนความลึก (Depth) เช่น 6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ระบบสร้าง L1-D1 ถึง L4-D6 ให้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  รวม 24 ตำแหน่งอัตโนมัติ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3566160" cy="2651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🏷️ สินค้า (SKU)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ข้อมูลสินค้าทุกตัวในระบบ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รหัส, ชื่อ, หมวดหมู่, หน่วยนับ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ประเภท: RM/PM/SEMI/FG/POSM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อายุสินค้า (เดือน) — คำนวณ % อายุ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ตั้งหน่วยแปลง เช่น 1 ลัง = 12 ชิ้น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566160" cy="2651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🛒 ช่องทางขาย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เกณฑ์ % อายุขั้นต่ำรายช่องทาง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MT (Modern Trade) ≥ 80%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GT (General Trade) ≥ 50%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เพิ่มช่องทางได้ไม่จำกัด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ตั้งเกณฑ์ตัดออก/ย้ายโปรโมชัน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931920"/>
            <a:ext cx="3566160" cy="26517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👤 ผู้ใช้งาน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จัดการผู้ใช้ + สิทธิ์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เพิ่ม/แก้ไข/ปิดใช้งานผู้ใช้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กำหนด Role: Admin, Manager,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  Operator, Viewer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• รีเซ็ตรหัสผ่าน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แผนผังคลังสินค้า (Visual Map)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ดูสถานะทุกตำแหน่งแบบกราฟิก  /  จัดเก็บ-ย้ายสินค้าจากแผนผัง  /  สีตามสถานะอายุสินค้า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03  แผนผัง — ดูสถานะ + จัดเก็บจากหน้าจอ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1A1A2E"/>
                </a:solidFill>
                <a:latin typeface="Tahoma"/>
              </a:rPr>
              <a:t>รหัสสีของตำแหน่ง: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82880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EMPTY (ว่าง) — พร้อมจัดเก็บ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508760"/>
            <a:ext cx="18288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3756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OCCUPIED (มีสินค้า) — ปกติ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508760"/>
            <a:ext cx="182880" cy="18288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3212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NEAR EXPIRY (ใกล้หมดอายุ) — เหลือ &lt;90 วัน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508760"/>
            <a:ext cx="18288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EXPIRED (หมดอายุ) — ต้องจัดการ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508760"/>
            <a:ext cx="182880" cy="1828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2124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DISABLED (ปิดใช้งาน)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55778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วิธีใช้แผนผัง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Tahoma"/>
              </a:rPr>
              <a:t>หน้าภาพรวม (Overview)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เลือกคลัง → แสดง RACK ทุกตัวในผังพื้น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แต่ละ RACK แสดงสรุป (จำนวนใช้/ว่าง)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กดที่ RACK เพื่อเข้าดูรายตำแหน่ง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Tahoma"/>
              </a:rPr>
              <a:t>หน้า RACK Detail (Grid View)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แสดง Grid ของตำแหน่ง: แนวนอน = ความลึก (D1–D6)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แนวตั้ง = ชั้น (L1 ล่างสุด → L4 บนสุด)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แต่ละช่องมีสีตามสถานะ + แสดงชื่อสินค้า/Lot/จำนวน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Tahoma"/>
              </a:rPr>
              <a:t>จัดเก็บสินค้าจากแผนผัง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กดช่อง EMPTY (สีเขียว) → ฟอร์มจัดเก็บเปิดขึ้น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เลือกสินค้า, จำนวน, Lot, MFG, EXP → บันทึก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กดช่อง OCCUPIED → ดูรายละเอียด/แก้ไข/ย้าย/หยิบออก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19456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Tahoma"/>
              </a:rPr>
              <a:t>ตัวอย่าง Grid ของ RACK: FG-A01</a:t>
            </a:r>
          </a:p>
          <a:p>
            <a:pPr algn="ctr">
              <a:spcBef>
                <a:spcPts val="6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(4 ชั้น x 6 ตอน = 24 ตำแหน่ง)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Tahoma"/>
              </a:rPr>
              <a:t>L4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3200400"/>
            <a:ext cx="614680" cy="523240"/>
          </a:xfrm>
          <a:prstGeom prst="roundRect">
            <a:avLst/>
          </a:prstGeom>
          <a:solidFill>
            <a:srgbClr val="64748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680960" y="3200400"/>
            <a:ext cx="614680" cy="523240"/>
          </a:xfrm>
          <a:prstGeom prst="roundRect">
            <a:avLst/>
          </a:prstGeom>
          <a:solidFill>
            <a:srgbClr val="64748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321040" y="3200400"/>
            <a:ext cx="614680" cy="523240"/>
          </a:xfrm>
          <a:prstGeom prst="roundRect">
            <a:avLst/>
          </a:prstGeom>
          <a:solidFill>
            <a:srgbClr val="64748B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61120" y="320040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601200" y="320040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41280" y="3200400"/>
            <a:ext cx="614680" cy="523240"/>
          </a:xfrm>
          <a:prstGeom prst="roundRect">
            <a:avLst/>
          </a:prstGeom>
          <a:solidFill>
            <a:srgbClr val="22C5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7490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Tahoma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749040"/>
            <a:ext cx="614680" cy="523240"/>
          </a:xfrm>
          <a:prstGeom prst="roundRect">
            <a:avLst/>
          </a:prstGeom>
          <a:solidFill>
            <a:srgbClr val="EAB308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80960" y="374904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21040" y="374904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61120" y="374904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01200" y="3749040"/>
            <a:ext cx="614680" cy="523240"/>
          </a:xfrm>
          <a:prstGeom prst="roundRect">
            <a:avLst/>
          </a:prstGeom>
          <a:solidFill>
            <a:srgbClr val="22C5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41280" y="3749040"/>
            <a:ext cx="614680" cy="523240"/>
          </a:xfrm>
          <a:prstGeom prst="roundRect">
            <a:avLst/>
          </a:prstGeom>
          <a:solidFill>
            <a:srgbClr val="22C5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4297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Tahoma"/>
              </a:rPr>
              <a:t>L2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429768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7680960" y="429768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321040" y="4297680"/>
            <a:ext cx="614680" cy="523240"/>
          </a:xfrm>
          <a:prstGeom prst="roundRect">
            <a:avLst/>
          </a:prstGeom>
          <a:solidFill>
            <a:srgbClr val="EF4444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961120" y="429768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601200" y="429768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241280" y="429768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8463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Tahoma"/>
              </a:rPr>
              <a:t>L1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484632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680960" y="484632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321040" y="484632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961120" y="484632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01200" y="4846320"/>
            <a:ext cx="614680" cy="523240"/>
          </a:xfrm>
          <a:prstGeom prst="roundRect">
            <a:avLst/>
          </a:prstGeom>
          <a:solidFill>
            <a:srgbClr val="3B82F6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241280" y="4846320"/>
            <a:ext cx="614680" cy="523240"/>
          </a:xfrm>
          <a:prstGeom prst="roundRect">
            <a:avLst/>
          </a:prstGeom>
          <a:solidFill>
            <a:srgbClr val="22C55E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Tahoma"/>
              </a:rPr>
              <a:t>D1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Tahoma"/>
              </a:rPr>
              <a:t>D2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Tahoma"/>
              </a:rPr>
              <a:t>D3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Tahoma"/>
              </a:rPr>
              <a:t>D4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Tahoma"/>
              </a:rPr>
              <a:t>D5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394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Tahoma"/>
              </a:rPr>
              <a:t>D6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4114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97706"/>
                </a:solidFill>
                <a:latin typeface="Tahoma"/>
              </a:rPr>
              <a:t>← D1 หน้าสุด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577840"/>
            <a:ext cx="4846320" cy="640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00" b="0">
                <a:solidFill>
                  <a:srgbClr val="D97706"/>
                </a:solidFill>
                <a:latin typeface="Tahoma"/>
              </a:rPr>
              <a:t>Drive-In Rack: D1 เข้าถึงได้โดยตรง / D2+ ต้องย้าย D1 ออกก่อน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ค้นหาสินค้า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ตอบคำถาม "สินค้าตัวนี้อยู่ที่ไหน"  /  กรองตามโซน อายุ จำนวน  /  ดาวน์โหลด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04  ค้นหาสินค้า — ตอบคำถาม "อยู่ที่ไหน"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7784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วิธีค้นหา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พิมพ์ชื่อสินค้า เช่น "ครีม" → แสดงทุก Lot ที่ตรง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พิมพ์รหัสสินค้า เช่น "FG-CRM-001" → แม่นยำ 100%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พิมพ์ Lot เช่น "L2026-08" → ค้นหาทุกตำแหน่งของ Lot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พิมพ์รหัสตำแหน่ง เช่น "FG-A01-L2-D3" → ดูสถานะตำแหน่ง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สแกน Barcode → ค้นหาอัตโนมัติทันที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รองรับ Barcode Scanner ทั้ง USB + Camera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51560"/>
            <a:ext cx="539496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ตัวกรองเพิ่มเติม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กรองตามโซน — เช่น เฉพาะโซน FG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อายุคงเหลืออย่างน้อย — เช่น ≥ 90 วัน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อายุคงเหลือไม่เกิน — เช่น ≤ 180 วัน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จำนวนคงเหลืออย่างน้อย — เช่น ≥ 100 หน่วย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Tahoma"/>
              </a:rPr>
              <a:t>ผลลัพธ์แสดง: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ตำแหน่ง, สินค้า, Lot, จำนวน, EXP, % อายุ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กดดูรายละเอียด → ประวัติ + ย้าย/หยิบ/แก้ไข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ดาวน์โหลด CSV ทั้งรายการ (ส่งต่อ Excel)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112471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F766E"/>
                </a:solidFill>
                <a:latin typeface="Tahoma"/>
              </a:rPr>
              <a:t>ตัวอย่างผลค้นหา: "ครีมทานาคา"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0F766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000" b="1">
                <a:solidFill>
                  <a:srgbClr val="64748B"/>
                </a:solidFill>
                <a:latin typeface="Courier New"/>
              </a:rPr>
              <a:t>ตำแหน่ง          สินค้า                    Lot           จำนวน    หมดอายุ       % อายุ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1A1A2E"/>
                </a:solidFill>
                <a:latin typeface="Courier New"/>
              </a:rPr>
              <a:t>FG-A01-L1-D1    ครีมทานาคา 50g           L2026-03      480 หลอด  2028-03-15    78%  ███████▒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1A1A2E"/>
                </a:solidFill>
                <a:latin typeface="Courier New"/>
              </a:rPr>
              <a:t>FG-A01-L1-D2    ครีมทานาคา 50g           L2026-05      360 หลอด  2028-05-20    85%  ████████▒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D97706"/>
                </a:solidFill>
                <a:latin typeface="Courier New"/>
              </a:rPr>
              <a:t>FG-A02-L2-D1    ครีมทานาคา 100g          L2026-01      200 หลอด  2027-12-01    52%  █████▒▒▒▒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DC2626"/>
                </a:solidFill>
                <a:latin typeface="Courier New"/>
              </a:rPr>
              <a:t>FG-B01-L1-D3    ครีมทานาคา Night Cream   L2025-12      120 หลอด  2027-08-15    38%  ███▒▒▒▒▒▒</a:t>
            </a:r>
          </a:p>
          <a:p>
            <a:pPr algn="l">
              <a:spcBef>
                <a:spcPts val="600"/>
              </a:spcBef>
            </a:pPr>
            <a:endParaRPr sz="1000" b="0">
              <a:solidFill>
                <a:srgbClr val="DC2626"/>
              </a:solidFill>
              <a:latin typeface="Courier New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พบ 4 รายการ (12 ms) — ทุกรายการคลิก "รายละเอียด" เพื่อดูประวัติ + จัดการ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รับสินค้าเข้าคลัง (GRN)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สร้างใบรับเข้าหลายรายการ  /  ตรวจ QC  /  อ้างอิง PO  /  หน่วยแปลง (UoM)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Tahoma"/>
              </a:rPr>
              <a:t>รับสินค้า 500 หลอดครีมทานาคา + 20 ลัง (240 ซอง) สบู่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D97706"/>
                </a:solidFill>
                <a:latin typeface="Tahoma"/>
              </a:rPr>
              <a:t>สถานการณ์: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  <a:latin typeface="Tahoma"/>
              </a:rPr>
              <a:t>รถส่งของมาถึง มีสินค้า 2 รายการ: ครีมทานาคา 50g จำนวน 500 หลอด (Lot L2026-08, EXP 2028-08) และสบู่ทานาคา 20 ลัง (1 ลัง = 12 ซอง) Lot L2026-07  —  อ้างอิง PO-6908-0023 จาก Supplier โรงงาน ABC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685800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ขั้นตอนการทำงาน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1. เปิดเมนู รับเข้า (GRN)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2. กรอกข้อมูลเอกสาร: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Tahoma"/>
              </a:rPr>
              <a:t>• PO อ้างอิง: PO-6908-0023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Tahoma"/>
              </a:rPr>
              <a:t>• Supplier: โรงงาน ABC</a:t>
            </a:r>
          </a:p>
          <a:p>
            <a:pPr lvl="1"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Tahoma"/>
              </a:rPr>
              <a:t>• ผลตรวจ QC: ผ่าน (PASS)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3. เพิ่มบรรทัดสินค้า:</a:t>
            </a:r>
          </a:p>
          <a:p>
            <a:pPr lvl="1"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บรรทัด 1: เลือก "ครีมทานาคา 50g", จำนวน 500, หน่วย "หลอด (หน่วยฐาน)"</a:t>
            </a:r>
          </a:p>
          <a:p>
            <a:pPr lvl="1"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Lot: L2026-08, MFG: 2026-08-01, EXP: 2028-08-01</a:t>
            </a:r>
          </a:p>
          <a:p>
            <a:pPr lvl="1"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ตำแหน่ง: FG-A01-L1-D6 (ชั้นล่าง, ลึกสุด — ตามหลัก Putaway)</a:t>
            </a:r>
          </a:p>
          <a:p>
            <a:pPr lvl="1"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บรรทัด 2: กด "+ เพิ่มบรรทัด" → เลือก "สบู่ทานาคา"</a:t>
            </a:r>
          </a:p>
          <a:p>
            <a:pPr lvl="1"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จำนวน 20, หน่วย "ลัง (x12)" → ระบบแปลงเป็น 240 ซอง</a:t>
            </a:r>
          </a:p>
          <a:p>
            <a:pPr lvl="1"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Lot: L2026-07, ตำแหน่ง: FG-B01-L1-D4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4. กดปุ่ม "บันทึกใบรับเข้า"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5. ระบบสร้างใบ GRN-6908-XXXX อัตโนมัติ + จัดเก็บเข้าตำแหน่ง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03120"/>
            <a:ext cx="4114800" cy="2286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16A34A"/>
                </a:solidFill>
                <a:latin typeface="Tahoma"/>
              </a:rPr>
              <a:t>ผลลัพธ์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16A34A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ใบรับเข้า GRN-6908-0005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จัดเก็บ 2 รายการเรียบร้อย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ครีม 500 หลอด → FG-A01-L1-D6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สบู่ 240 ซอง → FG-B01-L1-D4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Tahoma"/>
              </a:rPr>
              <a:t>• (ระบบแปลง 20 ลัง → 240 ซอง)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ผล QC: PASS + บันทึก PO อ้างอิง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663440"/>
            <a:ext cx="4114800" cy="182880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D97706"/>
                </a:solidFill>
                <a:latin typeface="Tahoma"/>
              </a:rPr>
              <a:t>Tips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D97706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QC = QUARANTINE → เลือกตำแหน่ง
  ในโซน QR (กักกัน)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พิมพ์ตำแหน่งบางส่วน → ระบบแนะนำ
  ตำแหน่งว่างให้เลือก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ตั้งหน่วยแปลงได้ที่: ข้อมูลหลัก →
  สินค้า → แก้ไข → แท็บ "หน่วยนับ"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วางแผนหยิบสินค้า (Pick + FEFO)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ระบุสินค้า+จำนวน → ระบบคำนวณให้ → ยืนยันหยิบ → สร้างใบจ่ายสินค้า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Tahoma"/>
              </a:rPr>
              <a:t>หยิบครีมทานาคา 800 หลอด สำหรับ Modern Trade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D97706"/>
                </a:solidFill>
                <a:latin typeface="Tahoma"/>
              </a:rPr>
              <a:t>สถานการณ์: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  <a:latin typeface="Tahoma"/>
              </a:rPr>
              <a:t>ลูกค้า "Tops Supermarket" สั่ง SO-6908-0101: ครีมทานาคา 50g จำนวน 800 หลอด ส่งเข้าช่องทาง MT (Modern Trade) ซึ่งกำหนดอายุคงเหลือ ≥ 80%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486400" cy="4389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ขั้นตอนการทำงาน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1. เปิดเมนู วางแผนหยิบสินค้า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2. พิมพ์ "ครีม" → เลือก "ครีมทานาคา 50g"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3. กรอก จำนวน: 800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4. ลำดับ: FEFO (หมดก่อนหยิบก่อน)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5. กด "คำนวณแผนการหยิบ"</a:t>
            </a:r>
          </a:p>
          <a:p>
            <a:pPr algn="l">
              <a:spcBef>
                <a:spcPts val="600"/>
              </a:spcBef>
            </a:pPr>
            <a:endParaRPr sz="13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1A1A2E"/>
                </a:solidFill>
                <a:latin typeface="Tahoma"/>
              </a:rPr>
              <a:t>ผลการคำนวณ: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6A34A"/>
                </a:solidFill>
                <a:latin typeface="Tahoma"/>
              </a:rPr>
              <a:t>• ต้องการ 800 / จัดสรรได้ 800 → ครบ!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ต้องเดินหยิบ 3 ตำแหน่ง: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#1 FG-A02-L1-D1: หยิบ 200 (L2026-01 EXP 12/2027)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#2 FG-A01-L1-D1: หยิบ 480 (L2026-03 EXP 03/2028)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  #3 FG-A01-L1-D2: หยิบ 120 (L2026-05 EXP 05/2028)</a:t>
            </a:r>
          </a:p>
          <a:p>
            <a:pPr algn="l">
              <a:spcBef>
                <a:spcPts val="600"/>
              </a:spcBef>
            </a:pPr>
            <a:endParaRPr sz="1100">
              <a:solidFill>
                <a:srgbClr val="64748B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6. กด "ยืนยันหยิบตามแผน"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7. กรอก SO: SO-6908-0101 / ลูกค้า: Tops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8. เลือกช่องทาง: MT (≥80%)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F766E"/>
                </a:solidFill>
                <a:latin typeface="Tahoma"/>
              </a:rPr>
              <a:t>ระบบตรวจ % อายุคงเหลือ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0F766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เมื่อเลือกช่องทาง MT (≥80%) ระบบจะตรวจ: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C2626"/>
                </a:solidFill>
                <a:latin typeface="Tahoma"/>
              </a:rPr>
              <a:t>• Lot L2026-01 (EXP 12/2027) → % อายุ = 52% → ต่ำกว่า 80%!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C2626"/>
                </a:solidFill>
                <a:latin typeface="Tahoma"/>
              </a:rPr>
              <a:t>• Lot L2026-03 (EXP 03/2028) → % อายุ = 78% → ต่ำกว่า 80%!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6A34A"/>
                </a:solidFill>
                <a:latin typeface="Tahoma"/>
              </a:rPr>
              <a:t>• Lot L2026-05 (EXP 05/2028) → % อายุ = 85% → ผ่าน</a:t>
            </a:r>
          </a:p>
          <a:p>
            <a:pPr algn="l">
              <a:spcBef>
                <a:spcPts val="600"/>
              </a:spcBef>
            </a:pPr>
            <a:endParaRPr sz="1100">
              <a:solidFill>
                <a:srgbClr val="16A34A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D97706"/>
                </a:solidFill>
                <a:latin typeface="Tahoma"/>
              </a:rPr>
              <a:t>ระบบแจ้งเตือน: อายุคงเหลือต่ำกว่าเกณฑ์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ผู้ใช้เลือก: ยกเลิก หรือ ยืนยันจ่ายออกทั้งที่ต่ำกว่า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434840"/>
            <a:ext cx="5394960" cy="2011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16A34A"/>
                </a:solidFill>
                <a:latin typeface="Tahoma"/>
              </a:rPr>
              <a:t>ผลลัพธ์ (หลังยืนยัน)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16A34A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สร้างใบจ่ายสินค้า ISSUE-6908-0012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SO: SO-6908-0101 / ลูกค้า: Tops / ช่องทาง: MT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ตัดสต๊อกจาก 3 ตำแหน่งรวม 800 หลอด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สถานะ: PICKED → พร้อมส่งต่อแพ็คสินค้า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ดาวน์โหลด CSV สำหรับ Picklist 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งานจ่ายออก + ติดตามการจัดส่ง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PICKED → PACKED → SHIPPED → DELIVERED  /  Tracking No.  /  พิมพ์ใบส่งสินค้า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Case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Tahoma"/>
              </a:rPr>
              <a:t>ติดตาม + อัปเดตสถานะจัดส่ง ใบจ่ายสินค้า ISSUE-6908-0012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D97706"/>
                </a:solidFill>
                <a:latin typeface="Tahoma"/>
              </a:rPr>
              <a:t>สถานการณ์: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  <a:latin typeface="Tahoma"/>
              </a:rPr>
              <a:t>ใบจ่ายสินค้าที่หยิบเสร็จแล้ว (PICKED) ต้องแพ็ค → ส่งออก → ยืนยันถึงปลายทาง พร้อมเลข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440" y="1805940"/>
            <a:ext cx="112471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dirty="0" err="1">
                <a:solidFill>
                  <a:srgbClr val="0F766E"/>
                </a:solidFill>
                <a:latin typeface="Tahoma"/>
              </a:rPr>
              <a:t>สถานะจัดส่ง</a:t>
            </a:r>
            <a:r>
              <a:rPr sz="1400" b="1" dirty="0">
                <a:solidFill>
                  <a:srgbClr val="0F766E"/>
                </a:solidFill>
                <a:latin typeface="Tahoma"/>
              </a:rPr>
              <a:t> (Ship Pipeline)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23774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📋 PICKED  หยิบแล้ว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Tahoma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606040"/>
            <a:ext cx="23774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Tahoma"/>
              </a:rPr>
              <a:t>📦 PACKED  แพ็คแล้ว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33472"/>
            <a:ext cx="365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64748B"/>
                </a:solidFill>
                <a:latin typeface="Tahoma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300" y="2597760"/>
            <a:ext cx="23774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64748B"/>
                </a:solidFill>
                <a:latin typeface="Tahoma"/>
              </a:rPr>
              <a:t>🚚 SHIPPED  </a:t>
            </a:r>
            <a:r>
              <a:rPr sz="1200" b="1" dirty="0" err="1">
                <a:solidFill>
                  <a:srgbClr val="64748B"/>
                </a:solidFill>
                <a:latin typeface="Tahoma"/>
              </a:rPr>
              <a:t>จัดส่งแล้ว</a:t>
            </a:r>
            <a:endParaRPr sz="1200" b="1" dirty="0">
              <a:solidFill>
                <a:srgbClr val="64748B"/>
              </a:solidFill>
              <a:latin typeface="Tahom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Tahom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606040"/>
            <a:ext cx="2377440" cy="502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Tahoma"/>
              </a:rPr>
              <a:t>✅ DELIVERED  ถึงปลายทาง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6858000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Tahoma"/>
              </a:rPr>
              <a:t>ขั้นตอน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1. เปิดเมนู งานจ่ายออก → ดู KPI สรุป 4 สถานะ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2. กด "จัดการ" ที่ใบ ISSUE-6908-0012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3. ดู Timeline: PICKED มีเวลาที่หยิบ, ขั้นอื่นยัง "รอดำเนินการ"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4. กด "แพ็คเสร็จ" → สถานะเปลี่ยนเป็น PACKED + บันทึกเวลา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5. กรอก Tracking: KERRY-TH12345 / ขนส่ง: Kerry Express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6. กด "ส่งออกแล้ว" → SHIPPED + บันทึก Tracking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2E"/>
                </a:solidFill>
                <a:latin typeface="Tahoma"/>
              </a:rPr>
              <a:t>7. เมื่อลูกค้ารับแล้ว กด "ถึงปลายทาง" → DELIVERED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520440"/>
            <a:ext cx="4114800" cy="292608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D97706"/>
                </a:solidFill>
                <a:latin typeface="Tahoma"/>
              </a:rPr>
              <a:t>ใบส่งสินค้า (Delivery Note)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D97706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กดปุ่ม "ใบส่งสินค้า" ในหน้าจัดการ:</a:t>
            </a:r>
          </a:p>
          <a:p>
            <a:pPr algn="l">
              <a:spcBef>
                <a:spcPts val="600"/>
              </a:spcBef>
            </a:pPr>
            <a:endParaRPr sz="1200" b="0">
              <a:solidFill>
                <a:srgbClr val="1A1A2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เลขที่เอกสาร + วันที่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ชื่อลูกค้า / SO อ้างอิง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รายการสินค้า + Lot + จำนวน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เลข Tracking + ขนส่ง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ช่องลงนาม: ผู้ส่ง / ผู้รับ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พิมพ์ได้ทันที — รูปแบบ A4 พร้อมใช้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64748B"/>
                </a:solidFill>
                <a:latin typeface="Tahoma"/>
              </a:rPr>
              <a:t>มี Logo EVERYDAYHAPPY + ข้อมูลบริษัท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โอนย้าย / คืนสินค้า / ตัดเสีย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Transfer  /  Return In (รับคืนลูกค้า)  /  Return Out (ส่งคืนผู้ขาย)  /  Scrap (ตัดเสีย)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08  เอกสารคลัง — 4 ประเภท พร้อมตัวอย่าง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43200" cy="5486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🔄 โอนย้าย (Transfer)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ย้ายสินค้าจากตำแหน่งหนึ่งไปอีกตำแหน่ง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2560320" cy="12801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Tahoma"/>
              </a:rPr>
              <a:t>Case: ย้ายครีมจาก FG-A01-L1-D1 → FG-C01-L1-D1
(ย้ายเข้าโซนโปรโมชันเพราะใกล้หมดอายุ)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204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1. กด "โอนย้าย" → สแกน/พิมพ์ตำแหน่งต้นทาง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2. ระบบดึงสินค้าในตำแหน่งมาให้เลือก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3. พิมพ์ตำแหน่งปลายทาง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4. เพิ่มหลายรายการได้ → กดยืนยัน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5. ได้เอกสาร TRANSFER-6908-XXXX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005840"/>
            <a:ext cx="2743200" cy="5486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↩️ รับคืนลูกค้า (Return 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ลูกค้าคืนสินค้า → เก็บกลับเข้าคลัง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103120"/>
            <a:ext cx="2560320" cy="12801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Tahoma"/>
              </a:rPr>
              <a:t>Case: Tops คืนครีม 50 หลอด (สินค้าเสียหาย)
Lot L2026-03 → เก็บเข้า QR-A01-L1-D1 (กักกัน)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1. กด "รับคืนลูกค้า"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2. กรอก: Tops / SO อ้างอิง / เหตุผล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3. เลือกสินค้า + จำนวน + ตำแหน่งเก็บ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4. ยืนยัน → สินค้ากลับเข้าสต๊อก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5. ได้เอกสาร RET_IN-6908-XXXX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2743200" cy="5486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📦 ส่งคืนผู้ขาย (Return Out)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ส่งสินค้าคืน Supplier (สินค้าไม่ตรง spec)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03120"/>
            <a:ext cx="2560320" cy="12801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Tahoma"/>
              </a:rPr>
              <a:t>Case: ส่งคืนสบู่ 100 ซอง ให้ Supplier ABC
Lot L2026-07 ที่ตำแหน่ง FG-B01-L1-D4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204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1. กด "ส่งคืนผู้ขาย"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2. สแกนตำแหน่ง → ระบบดึงสินค้ามา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3. ปรับจำนวนที่ส่งคืน (ไม่เกินจำนวนจริง)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4. กรอก Supplier + เหตุผล → ยืนยัน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5. ได้เอกสาร RET_OUT-6908-XXXX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005840"/>
            <a:ext cx="2743200" cy="5486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1005840"/>
            <a:ext cx="27432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🗑️ ตัดเสีย (Scrap)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Tahoma"/>
              </a:rPr>
              <a:t>ตัดสินค้าเสียหาย/หมดอายุออกจากสต๊อก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103120"/>
            <a:ext cx="2560320" cy="12801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Tahoma"/>
              </a:rPr>
              <a:t>Case: ตัดครีม 120 หลอด (Lot L2025-12)
หมดอายุ — ตำแหน่ง FG-B01-L1-D3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1. กด "ตัดเสีย"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2. สแกนตำแหน่ง → ดึงรายการสินค้า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3. ระบุจำนวน + เหตุผล "หมดอายุ"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4. ยืนยัน → ตัดออกจากสต๊อก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2E"/>
                </a:solidFill>
                <a:latin typeface="Tahoma"/>
              </a:rPr>
              <a:t>5. ได้เอกสาร SCRAP-6908-XXXX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อายุสินค้า &amp;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ศูนย์จัดการอายุ  /  กฎช่องทาง  /  เรียกคืนสินค้าราย Lot  /  สถานะ 5 ระดับ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Case 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Tahoma"/>
              </a:rPr>
              <a:t>ตรวจสอบสินค้าใกล้หมดอายุ + จัดการตามเกณฑ์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D97706"/>
                </a:solidFill>
                <a:latin typeface="Tahoma"/>
              </a:rPr>
              <a:t>สถานการณ์: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  <a:latin typeface="Tahoma"/>
              </a:rPr>
              <a:t>ทุกเช้า ผู้จัดการคลังเปิดหน้า "อายุสินค้า" เพื่อดูว่ามีสินค้าอะไรต้องจัดการ — ย้ายเข้าโปรโมชัน / ตัดออก / เรียกคืน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4864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F766E"/>
                </a:solidFill>
                <a:latin typeface="Tahoma"/>
              </a:rPr>
              <a:t>สถานะ 5 ระดับ (เรียงตามความเร่งด่วน)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0F766E"/>
              </a:solidFill>
              <a:latin typeface="Tahoma"/>
            </a:endParaRP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🔴 EXPIRED  หมดอายุแล้ว — ต้องตัดออกทันที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🟠 CUTOFF  เหลือ &lt; 4 เดือน — ต้องตัดออก/ส่งคืน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🟡 MOVE  เหลือ &lt; 12 เดือน — ย้ายเข้าโซนโปรโมชัน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🔵 WATCH  ขายได้บางช่องทาง (ไม่ผ่าน MT แต่ผ่าน GT)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A1A2E"/>
                </a:solidFill>
                <a:latin typeface="Tahoma"/>
              </a:rPr>
              <a:t>🟢 OK  ปกติ — ขายได้ทุกช่องทาง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F766E"/>
                </a:solidFill>
                <a:latin typeface="Tahoma"/>
              </a:rPr>
              <a:t>วิธีใช้งาน</a:t>
            </a:r>
          </a:p>
          <a:p>
            <a:pPr algn="l">
              <a:spcBef>
                <a:spcPts val="600"/>
              </a:spcBef>
            </a:pPr>
            <a:endParaRPr sz="14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1. เปิดเมนู อายุสินค้า &amp; Recall → แท็บ "สินค้าที่ต้องจัดการ"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2. ดู KPI: หมดอายุ 4 / ตัดออก 10 / ย้ายโปรฯ 25 / ขายบางช่อง 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3. กรองตามสถานะ เช่น เฉพาะ EXPIRED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4. แต่ละรายการแสดง: ตำแหน่ง, จำนวน, % อายุ, ช่องทางที่ขายได้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5. กดตำแหน่ง → ไปหน้าแผนผัง → จัดการ (ย้าย/ตัดเสีย)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39496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1828800" cy="3657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Case 5B: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Tahoma"/>
              </a:rPr>
              <a:t>เรียกคืนสินค้าราย Lot</a:t>
            </a:r>
          </a:p>
          <a:p>
            <a:pPr algn="l">
              <a:spcBef>
                <a:spcPts val="600"/>
              </a:spcBef>
            </a:pPr>
            <a:endParaRPr sz="1600" b="1">
              <a:solidFill>
                <a:srgbClr val="DC2626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1A2E"/>
                </a:solidFill>
                <a:latin typeface="Tahoma"/>
              </a:rPr>
              <a:t>สถานการณ์: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แผนก QC แจ้งว่า Lot L2026-03 มีปัญหา
ต้องเรียกคืนทั้ง Lot</a:t>
            </a:r>
          </a:p>
          <a:p>
            <a:pPr algn="l">
              <a:spcBef>
                <a:spcPts val="600"/>
              </a:spcBef>
            </a:pPr>
            <a:endParaRPr sz="1200" b="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1A2E"/>
                </a:solidFill>
                <a:latin typeface="Tahoma"/>
              </a:rPr>
              <a:t>ขั้นตอน: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1. เปิดแท็บ "ตรวจสอบ/เรียกคืนราย Lot"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2. พิมพ์ L2026-03 แล้วกด "ตรวจสอบ"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1A2E"/>
                </a:solidFill>
                <a:latin typeface="Tahoma"/>
              </a:rPr>
              <a:t>ระบบตอบ 2 คำถามทันที: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ยังอยู่ในคลัง: 480 หลอด ที่ FG-A01-L1-D1 → ไปเก็บ!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จ่ายออกไปแล้ว: 800 หลอด → Tops (ISSUE-6908-0012)
  + SO, ลูกค้า, เวลา — เพื่อประสานเรียกคืน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ประวัติทั้ง Lot: เคยเข้า/ออก/ย้ายเมื่อไร + ใคร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นับสต็อก (Cycle 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เปิดรอบนับ  →  สแกนตำแหน่ง + กรอกจำนวน  →  อนุมัติ + ปรับยอดอัตโนมัติ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Case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840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Tahoma"/>
              </a:rPr>
              <a:t>นับสต็อก FG ประจำวันหลัง pick เสร็จ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FDF8F0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1">
                <a:solidFill>
                  <a:srgbClr val="D97706"/>
                </a:solidFill>
                <a:latin typeface="Tahoma"/>
              </a:rPr>
              <a:t>สถานการณ์: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  <a:latin typeface="Tahoma"/>
              </a:rPr>
              <a:t>ทุกวันหลังหยิบสินค้าเสร็จ ต้องนับสต็อกโซน FG (Finished Goods) เพื่อเทียบกับระบบ — หากต่างกันจะปรับยอดเป็นเอกสาร ADJUST อัตโนมัติ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1247120" cy="5943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Tahoma"/>
              </a:rPr>
              <a:t>Flow:   เปิดรอบ  →  สแกนนับทีละตำแหน่ง  →  ดูผลต่าง  →  อนุมัติ  →  ปรับยอดอัตโนมัติ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657600" cy="3566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1. เปิดรอบนับ</a:t>
            </a:r>
          </a:p>
          <a:p>
            <a:pPr algn="l">
              <a:spcBef>
                <a:spcPts val="600"/>
              </a:spcBef>
            </a:pPr>
            <a:endParaRPr sz="15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1. เปิดเมนู นับสต็อก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2. กด "เปิดรอบนับใหม่"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3. เลือกขอบเขต: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โซน: FG (สำเร็จรูป)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ประเภท: FG (นับประจำวัน)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รวมตำแหน่งว่าง: ✓ (จับกรณี
  ระบบว่างแต่ของจริงมี)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4. กด "เปิดรอบนับ"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6A34A"/>
                </a:solidFill>
                <a:latin typeface="Tahoma"/>
              </a:rPr>
              <a:t>ผล: รอบ CC-6908-0003
— 150 ตำแหน่ง พร้อมนับ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926080"/>
            <a:ext cx="3657600" cy="3566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2. สแกนนับ (Quick Count)</a:t>
            </a:r>
          </a:p>
          <a:p>
            <a:pPr algn="l">
              <a:spcBef>
                <a:spcPts val="600"/>
              </a:spcBef>
            </a:pPr>
            <a:endParaRPr sz="1500" b="1">
              <a:solidFill>
                <a:srgbClr val="0F766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หน้า "นับเร็ว" มี 3 ช่อง: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ตำแหน่ง — สแกนป้ายหน้าชั้น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นับได้ — กรอกจำนวนที่นับจริง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หมายเหตุ — (ถ้ามี)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1A2E"/>
                </a:solidFill>
                <a:latin typeface="Tahoma"/>
              </a:rPr>
              <a:t>ตัวอย่าง: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สแกน FG-A01-L1-D6 → กรอก 500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6A34A"/>
                </a:solidFill>
                <a:latin typeface="Tahoma"/>
              </a:rPr>
              <a:t>• ระบบ: ✅ ตรง (ระบบ 500 / นับ 500)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สแกน FG-A01-L1-D2 → กรอก 230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C2626"/>
                </a:solidFill>
                <a:latin typeface="Tahoma"/>
              </a:rPr>
              <a:t>• ระบบ: ⚠️ ต่าง -10 (ระบบ 240 / นับ 230)</a:t>
            </a:r>
          </a:p>
          <a:p>
            <a:pPr algn="l">
              <a:spcBef>
                <a:spcPts val="600"/>
              </a:spcBef>
            </a:pPr>
            <a:endParaRPr sz="1100">
              <a:solidFill>
                <a:srgbClr val="DC2626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64748B"/>
                </a:solidFill>
                <a:latin typeface="Tahoma"/>
              </a:rPr>
              <a:t>KPI แสดงทันที: นับแล้ว / ยังไม่นับ / ผลต่าง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566160" cy="356616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3. อนุมัติ + ปรับยอด</a:t>
            </a:r>
          </a:p>
          <a:p>
            <a:pPr algn="l">
              <a:spcBef>
                <a:spcPts val="600"/>
              </a:spcBef>
            </a:pPr>
            <a:endParaRPr sz="15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1. นับครบแล้ว → กดเลือก
  "เฉพาะที่มีผลต่าง" ตรวจทาน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2. กด "อนุมัติ + ปรับยอด"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3. ระบบถาม: ยืนยัน?</a:t>
            </a:r>
          </a:p>
          <a:p>
            <a:pPr algn="l">
              <a:spcBef>
                <a:spcPts val="600"/>
              </a:spcBef>
            </a:pPr>
            <a:endParaRPr sz="1200">
              <a:solidFill>
                <a:srgbClr val="1A1A2E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A1A2E"/>
                </a:solidFill>
                <a:latin typeface="Tahoma"/>
              </a:rPr>
              <a:t>ระบบทำอัตโนมัติ: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สร้างเอกสาร ADJUST-6908-0001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2E"/>
                </a:solidFill>
                <a:latin typeface="Tahoma"/>
              </a:rPr>
              <a:t>• ปรับยอดทุกตำแหน่งที่ต่าง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เช่น FG-A01-L1-D2: 240 → 230
  (ปรับลด 10)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4748B"/>
                </a:solidFill>
                <a:latin typeface="Tahoma"/>
              </a:rPr>
              <a:t>• บันทึกหมายเหตุ: "นับสต็อก
  CC-6908-0003: ระบบ 240 →
  นับได้ 230"</a:t>
            </a:r>
          </a:p>
          <a:p>
            <a:pPr algn="l">
              <a:spcBef>
                <a:spcPts val="600"/>
              </a:spcBef>
            </a:pPr>
            <a:endParaRPr sz="1100">
              <a:solidFill>
                <a:srgbClr val="64748B"/>
              </a:solidFill>
              <a:latin typeface="Tahoma"/>
            </a:endParaRPr>
          </a:p>
          <a:p>
            <a:pPr algn="l">
              <a:spcBef>
                <a:spcPts val="600"/>
              </a:spcBef>
            </a:pPr>
            <a:r>
              <a:rPr sz="1100" b="1">
                <a:solidFill>
                  <a:srgbClr val="D97706"/>
                </a:solidFill>
                <a:latin typeface="Tahoma"/>
              </a:rPr>
              <a:t>ลบไม่ได้ — ตรวจสอบย้อนหลัง
ได้ทุกรอบ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2011680"/>
            <a:ext cx="1280160" cy="1280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</a:pPr>
            <a:r>
              <a:rPr sz="4200" b="1">
                <a:solidFill>
                  <a:srgbClr val="FFFFFF"/>
                </a:solidFill>
                <a:latin typeface="Tahom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Tahoma"/>
              </a:rPr>
              <a:t>ประวัติ, รายงาน, และสรุป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Tahoma"/>
              </a:rPr>
              <a:t>ประวัติการเคลื่อนย้าย  /  รายงาน  /  ข้อควรจำ  /  แนวทางการทำงานประจำวัน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5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11  ประวัติ + รายงาน + แนวทางประจำวัน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577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ประวัติการเคลื่อนย้าย</a:t>
            </a:r>
          </a:p>
          <a:p>
            <a:pPr algn="l">
              <a:spcBef>
                <a:spcPts val="600"/>
              </a:spcBef>
            </a:pPr>
            <a:endParaRPr sz="15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เมนู "ประวัติการเคลื่อนย้าย" แสดง Movement ทุกรายการ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กรองตามประเภท: จัดเก็บ / หยิบ / ย้าย / ปรับยอด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กรองตามช่วงวัน / สินค้า / ผู้ทำรายการ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ทุก Movement ผูกเอกสาร — กดดูใบ GRN/ISSUE/TRANSFER ได้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ลบไม่ได้ตามหลักระบบ WMS — แก้ไขด้วยเอกสารปรับยอด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051560"/>
            <a:ext cx="53949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0F766E"/>
                </a:solidFill>
                <a:latin typeface="Tahoma"/>
              </a:rPr>
              <a:t>รายงาน</a:t>
            </a:r>
          </a:p>
          <a:p>
            <a:pPr algn="l">
              <a:spcBef>
                <a:spcPts val="600"/>
              </a:spcBef>
            </a:pPr>
            <a:endParaRPr sz="1500" b="1">
              <a:solidFill>
                <a:srgbClr val="0F766E"/>
              </a:solidFill>
              <a:latin typeface="Tahoma"/>
            </a:endParaRP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รายงานการใช้พื้นที่ (Utilization) — % ตามโซน/คลัง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รายงานอายุสินค้า (Aging) — สินค้าแยกตามช่วงอายุ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รายงานแจ้งเตือนวันหมดอายุ — สินค้าที่ใกล้หมดอายุ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Tahoma"/>
              </a:rPr>
              <a:t>• รายงานรับเข้า/จ่ายออก — สรุปปริมาณตามช่วงเวลา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46120"/>
            <a:ext cx="11247120" cy="3200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1">
                <a:solidFill>
                  <a:srgbClr val="0F766E"/>
                </a:solidFill>
                <a:latin typeface="Tahoma"/>
              </a:rPr>
              <a:t>แนวทางการทำงานประจำวัน</a:t>
            </a:r>
          </a:p>
          <a:p>
            <a:pPr algn="l">
              <a:spcBef>
                <a:spcPts val="600"/>
              </a:spcBef>
            </a:pPr>
            <a:endParaRPr sz="1800" b="1">
              <a:solidFill>
                <a:srgbClr val="0F766E"/>
              </a:solidFill>
              <a:latin typeface="Tahoma"/>
            </a:endParaRP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F766E"/>
                </a:solidFill>
                <a:latin typeface="Tahoma"/>
              </a:rPr>
              <a:t>เช้า (08:00)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เช็ค Dashboard → ดูพื้นที่ว่าง + ประวัติจากเมื่อวาน → เปิดหน้า "อายุสินค้า" ดูสินค้าที่ต้องจัดการ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F766E"/>
                </a:solidFill>
                <a:latin typeface="Tahoma"/>
              </a:rPr>
              <a:t>รับสินค้า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เมื่อรถส่งมาถึง → สร้าง GRN → ตรวจ QC → จัดเก็บเข้าตำแหน่ง (ตามหลัก: ชั้นล่าง + ลึกสุดก่อน)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F766E"/>
                </a:solidFill>
                <a:latin typeface="Tahoma"/>
              </a:rPr>
              <a:t>จ่ายสินค้า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วางแผนหยิบ (FEFO) → ยืนยัน + สร้างใบจ่ายสินค้า → แพ็ค → จัดส่ง → อัปเดตสถานะ + Tracking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F766E"/>
                </a:solidFill>
                <a:latin typeface="Tahoma"/>
              </a:rPr>
              <a:t>นับสต็อก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หลังจ่ายเสร็จ → เปิดรอบนับ FG ประจำวัน → สแกนนับ → อนุมัติปรับยอด</a:t>
            </a:r>
          </a:p>
          <a:p>
            <a:pPr algn="l">
              <a:spcBef>
                <a:spcPts val="800"/>
              </a:spcBef>
            </a:pPr>
            <a:r>
              <a:rPr sz="1300" b="1">
                <a:solidFill>
                  <a:srgbClr val="0F766E"/>
                </a:solidFill>
                <a:latin typeface="Tahoma"/>
              </a:rPr>
              <a:t>เย็น (17:00)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  <a:latin typeface="Tahoma"/>
              </a:rPr>
              <a:t>ตรวจเอกสารวันนี้ → มีใบค้างหรือไม่ → ดู Outbound ที่ยังไม่ส่ง → วางแผนพรุ่งนี้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Tahoma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Tahoma"/>
              </a:rPr>
              <a:t>De Leaf WMS — คู่มือการใช้งาน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4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F6E4"/>
                </a:solidFill>
                <a:latin typeface="Tahoma"/>
              </a:rPr>
              <a:t>ข้อควรจำ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ahoma"/>
              </a:rPr>
              <a:t>✓  ทุก Transaction ลบไม่ได้ — แก้ไขด้วยเอกสารปรับยอดเสมอ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889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ahoma"/>
              </a:rPr>
              <a:t>✓  1 ตำแหน่ง = 1 พาเลท — ไม่วางซ้อน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ahoma"/>
              </a:rPr>
              <a:t>✓  สินค้าเครื่องสำอางต้องมี Lot + วันหมดอายุเสมอ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ahoma"/>
              </a:rPr>
              <a:t>✓  FEFO: หมดอายุก่อน หยิบก่อน — ระบบคำนวณให้อัตโนมัติ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ahoma"/>
              </a:rPr>
              <a:t>✓  ช่องทาง MT กำหนด ≥ 80% — ระบบบล็อกอัตโนมัติถ้าต่ำกว่า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006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Tahoma"/>
              </a:rPr>
              <a:t>✓  นับสต็อก FG ทุกวัน / นับใหญ่ทุกสิ้นเดือน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5394960"/>
            <a:ext cx="4846320" cy="1828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Tahoma"/>
              </a:rPr>
              <a:t>De Leaf WMS — RACK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9F6E4"/>
                </a:solidFill>
                <a:latin typeface="Tahoma"/>
              </a:rPr>
              <a:t>EVERYDAYHAPPY CO., LTD.  |  smartrack-333.web.app  |  ต้องการช่วยเหลือ ติดต่อผู้ดูแลระบบ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3874</Words>
  <Application>Microsoft Macintosh PowerPoint</Application>
  <PresentationFormat>Widescreen</PresentationFormat>
  <Paragraphs>521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Goff Arp.</cp:lastModifiedBy>
  <cp:revision>2</cp:revision>
  <dcterms:created xsi:type="dcterms:W3CDTF">2013-01-27T09:14:16Z</dcterms:created>
  <dcterms:modified xsi:type="dcterms:W3CDTF">2026-08-27T16:03:19Z</dcterms:modified>
  <cp:category/>
</cp:coreProperties>
</file>